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414" r:id="rId3"/>
    <p:sldId id="445" r:id="rId4"/>
    <p:sldId id="457" r:id="rId5"/>
    <p:sldId id="458" r:id="rId6"/>
    <p:sldId id="461" r:id="rId7"/>
    <p:sldId id="459" r:id="rId8"/>
    <p:sldId id="460" r:id="rId9"/>
    <p:sldId id="259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3393"/>
    <a:srgbClr val="003399"/>
    <a:srgbClr val="0012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89D25-0A52-41A7-B215-D5F216C08AA7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FB564-3777-448B-9FAD-B21B0DB87015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2413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9FEFD3E-32BC-476E-A696-76A50DF63D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1" name="1 Título">
            <a:extLst>
              <a:ext uri="{FF2B5EF4-FFF2-40B4-BE49-F238E27FC236}">
                <a16:creationId xmlns:a16="http://schemas.microsoft.com/office/drawing/2014/main" id="{0AFAA0FD-3DA1-4156-9A3B-578C6E595F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71864" y="2420888"/>
            <a:ext cx="6696743" cy="1224136"/>
          </a:xfrm>
          <a:prstGeom prst="rect">
            <a:avLst/>
          </a:prstGeom>
        </p:spPr>
        <p:txBody>
          <a:bodyPr/>
          <a:lstStyle>
            <a:lvl1pPr algn="l">
              <a:defRPr lang="es-ES" sz="5400" kern="1200" dirty="0">
                <a:solidFill>
                  <a:schemeClr val="bg1"/>
                </a:solidFill>
                <a:latin typeface="Franklin Gothic Medium" panose="020B0603020102020204" pitchFamily="34" charset="0"/>
                <a:ea typeface="+mn-ea"/>
                <a:cs typeface="+mn-cs"/>
              </a:defRPr>
            </a:lvl1pPr>
          </a:lstStyle>
          <a:p>
            <a:r>
              <a:rPr lang="es-ES" dirty="0"/>
              <a:t>Haga clic Titulo</a:t>
            </a:r>
          </a:p>
        </p:txBody>
      </p:sp>
      <p:sp>
        <p:nvSpPr>
          <p:cNvPr id="13" name="2 Subtítulo">
            <a:extLst>
              <a:ext uri="{FF2B5EF4-FFF2-40B4-BE49-F238E27FC236}">
                <a16:creationId xmlns:a16="http://schemas.microsoft.com/office/drawing/2014/main" id="{99D4BE28-67DA-4C6B-92B9-ECC4DC994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93274" y="3645024"/>
            <a:ext cx="6675333" cy="108012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s-ES" sz="3600" kern="1200" dirty="0">
                <a:solidFill>
                  <a:schemeClr val="bg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Haga clic para modificar el estilo de subtítulo del patrón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9FEFD3E-32BC-476E-A696-76A50DF63D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E483FE0-AB07-4389-80C4-D776C256072A}"/>
              </a:ext>
            </a:extLst>
          </p:cNvPr>
          <p:cNvSpPr/>
          <p:nvPr userDrawn="1"/>
        </p:nvSpPr>
        <p:spPr>
          <a:xfrm>
            <a:off x="-1" y="0"/>
            <a:ext cx="6190735" cy="6309320"/>
          </a:xfrm>
          <a:prstGeom prst="rect">
            <a:avLst/>
          </a:prstGeom>
          <a:solidFill>
            <a:srgbClr val="1433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9C7F74D-A41D-43DE-9D09-675584E0E5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831" y="1886033"/>
            <a:ext cx="10175776" cy="298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65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E1088CA3-E9D9-49B1-99DA-9DAADD4E3345}"/>
              </a:ext>
            </a:extLst>
          </p:cNvPr>
          <p:cNvSpPr txBox="1">
            <a:spLocks/>
          </p:cNvSpPr>
          <p:nvPr userDrawn="1"/>
        </p:nvSpPr>
        <p:spPr>
          <a:xfrm>
            <a:off x="838200" y="303341"/>
            <a:ext cx="9662984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3399"/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s-ES" sz="4000" dirty="0">
                <a:solidFill>
                  <a:srgbClr val="143393"/>
                </a:solidFill>
                <a:latin typeface="Franklin Gothic Medium" panose="020B0603020102020204" pitchFamily="34" charset="0"/>
              </a:rPr>
              <a:t> 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C05CBB39-F75B-4FF9-9BFC-CB909CCFFFFC}"/>
              </a:ext>
            </a:extLst>
          </p:cNvPr>
          <p:cNvSpPr txBox="1">
            <a:spLocks/>
          </p:cNvSpPr>
          <p:nvPr userDrawn="1"/>
        </p:nvSpPr>
        <p:spPr>
          <a:xfrm>
            <a:off x="838200" y="1998620"/>
            <a:ext cx="10295238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143393"/>
              </a:solidFill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06761DD-7FFC-49F5-95BF-AB15B1633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65125"/>
            <a:ext cx="9662984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00128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11" name="2 Marcador de contenido">
            <a:extLst>
              <a:ext uri="{FF2B5EF4-FFF2-40B4-BE49-F238E27FC236}">
                <a16:creationId xmlns:a16="http://schemas.microsoft.com/office/drawing/2014/main" id="{D8C6370C-7D97-45BA-BB35-010779CCB1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0600" y="2132855"/>
            <a:ext cx="10295238" cy="437589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kern="1200" dirty="0">
                <a:solidFill>
                  <a:srgbClr val="001282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>
              <a:defRPr sz="2800">
                <a:solidFill>
                  <a:srgbClr val="001282"/>
                </a:solidFill>
              </a:defRPr>
            </a:lvl2pPr>
            <a:lvl3pPr>
              <a:defRPr lang="es-ES" sz="2800" kern="1200">
                <a:solidFill>
                  <a:srgbClr val="001282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3pPr>
            <a:lvl4pPr>
              <a:defRPr sz="2800">
                <a:solidFill>
                  <a:srgbClr val="001282"/>
                </a:solidFill>
              </a:defRPr>
            </a:lvl4pPr>
            <a:lvl5pPr>
              <a:defRPr sz="2800">
                <a:solidFill>
                  <a:srgbClr val="001282"/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697DF1E-D135-4288-9814-F673700083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9481A95-D259-4F53-90F1-371A0DBE1E1D}"/>
              </a:ext>
            </a:extLst>
          </p:cNvPr>
          <p:cNvSpPr txBox="1">
            <a:spLocks/>
          </p:cNvSpPr>
          <p:nvPr userDrawn="1"/>
        </p:nvSpPr>
        <p:spPr>
          <a:xfrm>
            <a:off x="838200" y="303341"/>
            <a:ext cx="9662984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3399"/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s-ES" sz="4000" dirty="0">
                <a:solidFill>
                  <a:srgbClr val="143393"/>
                </a:solidFill>
                <a:latin typeface="Franklin Gothic Medium" panose="020B0603020102020204" pitchFamily="34" charset="0"/>
              </a:rPr>
              <a:t> 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E3082AB3-2D95-4F1F-B7F3-E1E203F68D64}"/>
              </a:ext>
            </a:extLst>
          </p:cNvPr>
          <p:cNvSpPr txBox="1">
            <a:spLocks/>
          </p:cNvSpPr>
          <p:nvPr userDrawn="1"/>
        </p:nvSpPr>
        <p:spPr>
          <a:xfrm>
            <a:off x="838200" y="1998620"/>
            <a:ext cx="10295238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ES" dirty="0">
              <a:solidFill>
                <a:srgbClr val="143393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EA3BC0B0-DFC1-4B7E-8399-F2AEA26D3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65125"/>
            <a:ext cx="9662984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00128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12" name="2 Marcador de contenido">
            <a:extLst>
              <a:ext uri="{FF2B5EF4-FFF2-40B4-BE49-F238E27FC236}">
                <a16:creationId xmlns:a16="http://schemas.microsoft.com/office/drawing/2014/main" id="{A045CFAD-0395-477C-A2E9-F1A85613810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0600" y="2132855"/>
            <a:ext cx="10295238" cy="437589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kern="1200" dirty="0">
                <a:solidFill>
                  <a:srgbClr val="143393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>
              <a:defRPr sz="2800">
                <a:solidFill>
                  <a:srgbClr val="003399"/>
                </a:solidFill>
              </a:defRPr>
            </a:lvl2pPr>
            <a:lvl3pPr>
              <a:defRPr lang="es-ES" sz="2800" kern="1200">
                <a:solidFill>
                  <a:srgbClr val="143393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3pPr>
            <a:lvl4pPr>
              <a:defRPr sz="2800">
                <a:solidFill>
                  <a:srgbClr val="003399"/>
                </a:solidFill>
              </a:defRPr>
            </a:lvl4pPr>
            <a:lvl5pPr>
              <a:defRPr sz="2800">
                <a:solidFill>
                  <a:srgbClr val="003399"/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C92358AE-A402-4976-A084-283CF51F54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05B381C-B883-4A4F-8D2B-49F2B5EC0C37}"/>
              </a:ext>
            </a:extLst>
          </p:cNvPr>
          <p:cNvSpPr txBox="1">
            <a:spLocks/>
          </p:cNvSpPr>
          <p:nvPr userDrawn="1"/>
        </p:nvSpPr>
        <p:spPr>
          <a:xfrm>
            <a:off x="838200" y="303341"/>
            <a:ext cx="9662984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3399"/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s-ES" sz="4000" dirty="0">
                <a:solidFill>
                  <a:srgbClr val="143393"/>
                </a:solidFill>
                <a:latin typeface="Franklin Gothic Medium" panose="020B0603020102020204" pitchFamily="34" charset="0"/>
              </a:rPr>
              <a:t> 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7C10FA5D-9611-4229-9832-8C6F392913D4}"/>
              </a:ext>
            </a:extLst>
          </p:cNvPr>
          <p:cNvSpPr txBox="1">
            <a:spLocks/>
          </p:cNvSpPr>
          <p:nvPr userDrawn="1"/>
        </p:nvSpPr>
        <p:spPr>
          <a:xfrm>
            <a:off x="838200" y="1998620"/>
            <a:ext cx="10295238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>
              <a:solidFill>
                <a:srgbClr val="143393"/>
              </a:solidFill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D2EA6C16-BD44-4558-AF31-C4537312D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65125"/>
            <a:ext cx="9662984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00128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12" name="2 Marcador de contenido">
            <a:extLst>
              <a:ext uri="{FF2B5EF4-FFF2-40B4-BE49-F238E27FC236}">
                <a16:creationId xmlns:a16="http://schemas.microsoft.com/office/drawing/2014/main" id="{0A7B0A57-246A-4A4F-B66A-BFD8009ADAF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0600" y="2132855"/>
            <a:ext cx="10295238" cy="437589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kern="1200" dirty="0">
                <a:solidFill>
                  <a:srgbClr val="143393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>
              <a:defRPr sz="2800">
                <a:solidFill>
                  <a:srgbClr val="003399"/>
                </a:solidFill>
              </a:defRPr>
            </a:lvl2pPr>
            <a:lvl3pPr>
              <a:defRPr lang="es-ES" sz="2800" kern="1200">
                <a:solidFill>
                  <a:srgbClr val="143393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3pPr>
            <a:lvl4pPr>
              <a:defRPr sz="2800">
                <a:solidFill>
                  <a:srgbClr val="003399"/>
                </a:solidFill>
              </a:defRPr>
            </a:lvl4pPr>
            <a:lvl5pPr>
              <a:defRPr sz="2800">
                <a:solidFill>
                  <a:srgbClr val="003399"/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F6D0409-B15F-47CF-B4CA-D8F12DC2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B5C0DE6-A998-44DC-A9B2-839724632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D4DD09-F872-4C75-A957-DDAA8111F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347F434-917D-42E7-993C-579FE8B1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0B11BE34-896D-432D-BF6E-E836C9A88D5C}"/>
              </a:ext>
            </a:extLst>
          </p:cNvPr>
          <p:cNvSpPr txBox="1">
            <a:spLocks/>
          </p:cNvSpPr>
          <p:nvPr userDrawn="1"/>
        </p:nvSpPr>
        <p:spPr>
          <a:xfrm>
            <a:off x="838200" y="1998620"/>
            <a:ext cx="10295238" cy="435133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ES" dirty="0">
              <a:solidFill>
                <a:srgbClr val="143393"/>
              </a:solidFill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78AE3A4C-AB04-45C6-A0B8-92ACF25B1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65125"/>
            <a:ext cx="9662984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00128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11" name="2 Marcador de contenido">
            <a:extLst>
              <a:ext uri="{FF2B5EF4-FFF2-40B4-BE49-F238E27FC236}">
                <a16:creationId xmlns:a16="http://schemas.microsoft.com/office/drawing/2014/main" id="{F7C92C87-5C8A-414B-BF7C-FA738B37303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0600" y="2132855"/>
            <a:ext cx="10295238" cy="437589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kern="1200" dirty="0">
                <a:solidFill>
                  <a:srgbClr val="143393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>
              <a:defRPr sz="2800">
                <a:solidFill>
                  <a:srgbClr val="003399"/>
                </a:solidFill>
              </a:defRPr>
            </a:lvl2pPr>
            <a:lvl3pPr>
              <a:defRPr lang="es-ES" sz="2800" kern="1200">
                <a:solidFill>
                  <a:srgbClr val="143393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3pPr>
            <a:lvl4pPr>
              <a:defRPr sz="2800">
                <a:solidFill>
                  <a:srgbClr val="003399"/>
                </a:solidFill>
              </a:defRPr>
            </a:lvl4pPr>
            <a:lvl5pPr>
              <a:defRPr sz="2800">
                <a:solidFill>
                  <a:srgbClr val="003399"/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103224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37C6356-A850-430A-BA3C-78935989EE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4007375-D486-4533-A011-E507EFC2A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114E26A-69C1-4DF6-9F32-14401F865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E4CCA5C-8D4A-488C-B2D5-EC70D31A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EB6A8F3D-8D97-4347-8281-93B5326B2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65125"/>
            <a:ext cx="9662984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00128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11" name="2 Marcador de contenido">
            <a:extLst>
              <a:ext uri="{FF2B5EF4-FFF2-40B4-BE49-F238E27FC236}">
                <a16:creationId xmlns:a16="http://schemas.microsoft.com/office/drawing/2014/main" id="{877073F4-9783-4B1F-8F1A-34DCB3BDBF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0600" y="2132855"/>
            <a:ext cx="10295238" cy="437589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kern="1200" dirty="0">
                <a:solidFill>
                  <a:srgbClr val="143393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>
              <a:defRPr sz="2800">
                <a:solidFill>
                  <a:srgbClr val="003399"/>
                </a:solidFill>
              </a:defRPr>
            </a:lvl2pPr>
            <a:lvl3pPr>
              <a:defRPr lang="es-ES" sz="2800" kern="1200">
                <a:solidFill>
                  <a:srgbClr val="143393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3pPr>
            <a:lvl4pPr>
              <a:defRPr sz="2800">
                <a:solidFill>
                  <a:srgbClr val="003399"/>
                </a:solidFill>
              </a:defRPr>
            </a:lvl4pPr>
            <a:lvl5pPr>
              <a:defRPr sz="2800">
                <a:solidFill>
                  <a:srgbClr val="003399"/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678935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BDE02F4E-26F2-4626-A3B2-EECF1E2B2C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9B83106-E5D7-4531-AE30-B8C93CEA9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8C389A8-9F52-4460-9696-6A924A1A0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9A51387-3A6F-4CB1-AC97-085DBEE0C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5168D03-AA5F-4D00-86A2-FD3AD0C9A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365125"/>
            <a:ext cx="9662984" cy="1325563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00128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12" name="2 Marcador de contenido">
            <a:extLst>
              <a:ext uri="{FF2B5EF4-FFF2-40B4-BE49-F238E27FC236}">
                <a16:creationId xmlns:a16="http://schemas.microsoft.com/office/drawing/2014/main" id="{2A2C51AE-89FB-472C-B515-033B8DF1C60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90600" y="2132855"/>
            <a:ext cx="10295238" cy="437589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kern="1200" dirty="0">
                <a:solidFill>
                  <a:srgbClr val="143393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1pPr>
            <a:lvl2pPr>
              <a:defRPr sz="2800">
                <a:solidFill>
                  <a:srgbClr val="003399"/>
                </a:solidFill>
              </a:defRPr>
            </a:lvl2pPr>
            <a:lvl3pPr>
              <a:defRPr lang="es-ES" sz="2800" kern="1200">
                <a:solidFill>
                  <a:srgbClr val="143393"/>
                </a:solidFill>
                <a:latin typeface="Franklin Gothic Book" panose="020B0503020102020204" pitchFamily="34" charset="0"/>
                <a:ea typeface="+mn-ea"/>
                <a:cs typeface="+mn-cs"/>
              </a:defRPr>
            </a:lvl3pPr>
            <a:lvl4pPr>
              <a:defRPr sz="2800">
                <a:solidFill>
                  <a:srgbClr val="003399"/>
                </a:solidFill>
              </a:defRPr>
            </a:lvl4pPr>
            <a:lvl5pPr>
              <a:defRPr sz="2800">
                <a:solidFill>
                  <a:srgbClr val="003399"/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082928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C8F5441E-7781-483D-8A6A-0ACC2121CD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D370564A-C358-46FE-9AC3-3380CCB9F6F1}"/>
              </a:ext>
            </a:extLst>
          </p:cNvPr>
          <p:cNvSpPr/>
          <p:nvPr userDrawn="1"/>
        </p:nvSpPr>
        <p:spPr>
          <a:xfrm>
            <a:off x="-1" y="0"/>
            <a:ext cx="6190735" cy="6858000"/>
          </a:xfrm>
          <a:prstGeom prst="rect">
            <a:avLst/>
          </a:prstGeom>
          <a:solidFill>
            <a:srgbClr val="1433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033312-2248-406C-A44A-D548AFAE97CD}" type="slidenum">
              <a:rPr lang="es-ES"/>
              <a:pPr/>
              <a:t>‹Nº›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845B3CE-C0CA-4BCC-B0E7-15CA9E6598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466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033312-2248-406C-A44A-D548AFAE97CD}" type="slidenum">
              <a:rPr lang="es-ES"/>
              <a:pPr/>
              <a:t>‹Nº›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835E026-F565-4178-9D2F-14DED30047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606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1143000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54489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1143000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30088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1143000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0835975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1143000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46573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1143000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8108129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1143000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27544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1143000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674699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1143000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5434555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1143000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218794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rgbClr val="0032A0"/>
                </a:solidFill>
                <a:latin typeface="Franklin Gothic Demi" panose="020B0703020102020204" pitchFamily="34" charset="0"/>
              </a:defRPr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4DC6D-0167-3A4F-A6F0-379DDECBCE93}" type="datetimeFigureOut">
              <a:rPr lang="es-ES" smtClean="0"/>
              <a:t>22/04/2026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2BAFD-ABC1-694F-ABD7-371A5080450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5226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8A45F-58AF-E3C1-DB5E-4FA5028EB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4454A06-C97E-A34C-41AE-223EAB1B9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4DC6D-0167-3A4F-A6F0-379DDECBCE93}" type="datetimeFigureOut">
              <a:rPr lang="es-ES" smtClean="0"/>
              <a:t>22/04/2026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6FCE15C-C8D1-9B71-E090-E4E7556D1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E740CD6-A1BF-A51F-47AF-252742F48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2BAFD-ABC1-694F-ABD7-371A50804508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5ACE0C9-60BE-A4A1-D7D6-2590148309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8217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8A45F-58AF-E3C1-DB5E-4FA5028EB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4454A06-C97E-A34C-41AE-223EAB1B9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4DC6D-0167-3A4F-A6F0-379DDECBCE93}" type="datetimeFigureOut">
              <a:rPr lang="es-ES" smtClean="0"/>
              <a:t>22/04/2026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6FCE15C-C8D1-9B71-E090-E4E7556D1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E740CD6-A1BF-A51F-47AF-252742F48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2BAFD-ABC1-694F-ABD7-371A50804508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5ACE0C9-60BE-A4A1-D7D6-2590148309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9339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solidFill>
                  <a:srgbClr val="0032A0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41336793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solidFill>
                  <a:srgbClr val="0032A0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9530371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solidFill>
                  <a:srgbClr val="0032A0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884333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>
                <a:solidFill>
                  <a:srgbClr val="0032A0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344841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5CB79FC5-6AF8-4CCB-B284-C8EC771B9606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2"/>
            <a:ext cx="12192000" cy="6858000"/>
          </a:xfrm>
          <a:prstGeom prst="rect">
            <a:avLst/>
          </a:prstGeom>
        </p:spPr>
      </p:pic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25893-D08C-4467-A0BD-C1858CADEF90}" type="datetimeFigureOut">
              <a:rPr lang="es-ES" smtClean="0"/>
              <a:pPr/>
              <a:t>22/04/2026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C6565-A13C-48E7-A5BC-D5747B38C3E0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1" r:id="rId2"/>
    <p:sldLayoutId id="2147483650" r:id="rId3"/>
    <p:sldLayoutId id="2147483654" r:id="rId4"/>
    <p:sldLayoutId id="2147483655" r:id="rId5"/>
    <p:sldLayoutId id="2147483668" r:id="rId6"/>
    <p:sldLayoutId id="2147483669" r:id="rId7"/>
    <p:sldLayoutId id="2147483670" r:id="rId8"/>
    <p:sldLayoutId id="2147483657" r:id="rId9"/>
    <p:sldLayoutId id="2147483667" r:id="rId10"/>
    <p:sldLayoutId id="2147483666" r:id="rId11"/>
    <p:sldLayoutId id="2147483678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rgbClr val="003399"/>
          </a:solidFill>
          <a:latin typeface="Franklin Gothic Demi" panose="020B07030201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B4EF49B4-9826-49F8-9E42-F7BEDF476385}"/>
              </a:ext>
            </a:extLst>
          </p:cNvPr>
          <p:cNvSpPr/>
          <p:nvPr/>
        </p:nvSpPr>
        <p:spPr>
          <a:xfrm>
            <a:off x="-1" y="0"/>
            <a:ext cx="6190735" cy="6309320"/>
          </a:xfrm>
          <a:prstGeom prst="rect">
            <a:avLst/>
          </a:prstGeom>
          <a:solidFill>
            <a:srgbClr val="1433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546970A-480E-41A7-ADBA-C6AD43E4BF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831" y="1886033"/>
            <a:ext cx="10175776" cy="298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943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CB724B8-200A-4AC0-A2B5-6C429C3F0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1864" y="2996952"/>
            <a:ext cx="6840760" cy="720080"/>
          </a:xfrm>
        </p:spPr>
        <p:txBody>
          <a:bodyPr/>
          <a:lstStyle/>
          <a:p>
            <a:r>
              <a:rPr lang="es-ES" sz="3600" dirty="0" smtClean="0"/>
              <a:t>ARQUITECTURA COMPUTACIONAL</a:t>
            </a:r>
            <a:endParaRPr lang="es-CO" sz="3600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BC21AA9C-4605-452D-BE28-05C32779D8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Proyecto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4435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acceso y seguridad</a:t>
            </a:r>
            <a:endParaRPr lang="en-US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389078"/>
            <a:ext cx="6420746" cy="2534004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052" y="1628800"/>
            <a:ext cx="4566420" cy="304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928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acceso y seguridad</a:t>
            </a:r>
            <a:endParaRPr lang="en-US" dirty="0"/>
          </a:p>
        </p:txBody>
      </p:sp>
      <p:sp>
        <p:nvSpPr>
          <p:cNvPr id="7" name="Rectángulo 6"/>
          <p:cNvSpPr/>
          <p:nvPr/>
        </p:nvSpPr>
        <p:spPr>
          <a:xfrm>
            <a:off x="1127448" y="1390230"/>
            <a:ext cx="957706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/>
              <a:t>Diseñar e implementar un sistema </a:t>
            </a:r>
            <a:r>
              <a:rPr lang="es-ES" sz="2400" dirty="0" smtClean="0"/>
              <a:t>de </a:t>
            </a:r>
            <a:r>
              <a:rPr lang="es-ES" sz="2400" dirty="0" smtClean="0"/>
              <a:t>control de acceso con cerradura </a:t>
            </a:r>
            <a:r>
              <a:rPr lang="es-ES" sz="2400" dirty="0"/>
              <a:t>inteligente que controle el acceso a una </a:t>
            </a:r>
            <a:r>
              <a:rPr lang="es-ES" sz="2400" dirty="0" smtClean="0"/>
              <a:t>empresa </a:t>
            </a:r>
            <a:r>
              <a:rPr lang="es-ES" sz="2400" dirty="0"/>
              <a:t>mediante clave, gestione intentos </a:t>
            </a:r>
            <a:r>
              <a:rPr lang="es-ES" sz="2400" dirty="0" smtClean="0"/>
              <a:t>fallidos, </a:t>
            </a:r>
            <a:r>
              <a:rPr lang="es-ES" sz="2400" dirty="0"/>
              <a:t>active alarmas de </a:t>
            </a:r>
            <a:r>
              <a:rPr lang="es-ES" sz="2400" dirty="0" smtClean="0"/>
              <a:t>seguridad, ingrese con horarios y perfiles establecidos, gestione contraseñas y </a:t>
            </a:r>
            <a:r>
              <a:rPr lang="es-ES" sz="2400" dirty="0" smtClean="0"/>
              <a:t>perfiles.</a:t>
            </a:r>
          </a:p>
          <a:p>
            <a:pPr algn="just"/>
            <a:r>
              <a:rPr lang="es-ES" sz="2400" dirty="0" smtClean="0"/>
              <a:t>Además, gestione un sistema de monitoreo ambiental para asegurar el confort térmico del la empresa.</a:t>
            </a:r>
            <a:endParaRPr lang="es-ES" sz="2400" dirty="0" smtClean="0"/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El sistema permite el ingreso de una clave </a:t>
            </a:r>
            <a:r>
              <a:rPr lang="es-ES" sz="2400" dirty="0" smtClean="0"/>
              <a:t>numérica. </a:t>
            </a:r>
            <a:r>
              <a:rPr lang="es-ES" sz="2400" dirty="0"/>
              <a:t>La clave es comparada con un valor almacenado en memoria. Si la clave es correcta, la cerradura se habilita por un tiempo determinado; si es incorrecta, se incrementa un contador de intentos fallidos. Al superar un número máximo de intentos o ante un evento de intrusión, se activa una alarma y el sistema entra en estado de bloqueo temporal.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67185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Control de acceso y seguridad</a:t>
            </a:r>
            <a:endParaRPr lang="en-US" dirty="0"/>
          </a:p>
        </p:txBody>
      </p:sp>
      <p:sp>
        <p:nvSpPr>
          <p:cNvPr id="7" name="Rectángulo 6"/>
          <p:cNvSpPr/>
          <p:nvPr/>
        </p:nvSpPr>
        <p:spPr>
          <a:xfrm>
            <a:off x="1127448" y="1390230"/>
            <a:ext cx="957706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dirty="0" smtClean="0"/>
              <a:t>La gestión ambiental ayuda a mantener una temperatura y humedad apropiada para la empresa según el numero de personas</a:t>
            </a:r>
            <a:r>
              <a:rPr lang="es-ES" sz="2400" dirty="0" smtClean="0"/>
              <a:t>.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 smtClean="0"/>
              <a:t>Los perfiles están basados en los roles de la empresa, seguridad, operarios, coordinadores y gerentes. Las claves de acceso deben ser cambiadas después de 4 usos y no pueden ser las mismas. </a:t>
            </a:r>
            <a:endParaRPr lang="es-ES" sz="2400" dirty="0" smtClean="0"/>
          </a:p>
          <a:p>
            <a:pPr algn="just"/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736742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Control de acceso y seguridad</a:t>
            </a:r>
            <a:endParaRPr lang="en-US" dirty="0"/>
          </a:p>
        </p:txBody>
      </p:sp>
      <p:sp>
        <p:nvSpPr>
          <p:cNvPr id="9" name="Rectángulo 8"/>
          <p:cNvSpPr/>
          <p:nvPr/>
        </p:nvSpPr>
        <p:spPr>
          <a:xfrm>
            <a:off x="983432" y="1435404"/>
            <a:ext cx="892899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El sistema debe permitir el ingreso de una clave numérica de al menos 4 dígitos</a:t>
            </a:r>
            <a:r>
              <a:rPr lang="es-E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El </a:t>
            </a:r>
            <a:r>
              <a:rPr lang="es-ES" dirty="0"/>
              <a:t>sistema debe validar la </a:t>
            </a:r>
            <a:r>
              <a:rPr lang="es-ES" dirty="0" smtClean="0"/>
              <a:t>clave.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Debe </a:t>
            </a:r>
            <a:r>
              <a:rPr lang="es-ES" dirty="0"/>
              <a:t>permitir un máximo de 3 intentos fallidos antes de activar el bloqueo</a:t>
            </a:r>
            <a:r>
              <a:rPr lang="es-E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Debe </a:t>
            </a:r>
            <a:r>
              <a:rPr lang="es-ES" dirty="0"/>
              <a:t>activar una alarma sonora y/o visual ante intentos excesivos o intrusión</a:t>
            </a:r>
            <a:r>
              <a:rPr lang="es-E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La </a:t>
            </a:r>
            <a:r>
              <a:rPr lang="es-ES" dirty="0"/>
              <a:t>cerradura debe desbloquearse únicamente por un tiempo programado</a:t>
            </a:r>
            <a:r>
              <a:rPr lang="es-E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El </a:t>
            </a:r>
            <a:r>
              <a:rPr lang="es-ES" dirty="0"/>
              <a:t>sistema debe retornar automáticamente al </a:t>
            </a:r>
            <a:r>
              <a:rPr lang="es-ES" dirty="0" smtClean="0"/>
              <a:t>inicio.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ES" dirty="0"/>
              <a:t>Establecer franjas horarias de acceso.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ES" dirty="0"/>
              <a:t>Monitorear el estado de la puerta.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Control y monitorización total de los accesos y de las llaves y dispositivos </a:t>
            </a:r>
            <a:r>
              <a:rPr lang="es-ES" dirty="0" smtClean="0"/>
              <a:t>activos.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Dar de alta nuevos usuarios y accesos en pocos segundos.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Hacer nuevas copias de llaves cuando se necesite.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Utilizar mecanismo </a:t>
            </a:r>
            <a:r>
              <a:rPr lang="es-ES" dirty="0"/>
              <a:t>de bloqueo puede ser un cerrojo estándar, un pestillo o una combinación de ambos. </a:t>
            </a:r>
            <a:endParaRPr lang="es-E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Activar </a:t>
            </a:r>
            <a:r>
              <a:rPr lang="es-ES" dirty="0"/>
              <a:t>o </a:t>
            </a:r>
            <a:r>
              <a:rPr lang="es-ES" dirty="0" smtClean="0"/>
              <a:t>desactivar el pestillo </a:t>
            </a:r>
            <a:r>
              <a:rPr lang="es-ES" dirty="0"/>
              <a:t>mediante el sistema de </a:t>
            </a:r>
            <a:r>
              <a:rPr lang="es-ES" dirty="0" smtClean="0"/>
              <a:t>control</a:t>
            </a:r>
            <a:r>
              <a:rPr lang="es-E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Monitorear temperatura, humedad y fuego.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Mantener el confort apropiado.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Gestionar cambios de claves por repetición y frecuencia de uso.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109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Control de acceso y seguridad</a:t>
            </a:r>
            <a:endParaRPr lang="en-US" dirty="0"/>
          </a:p>
        </p:txBody>
      </p:sp>
      <p:sp>
        <p:nvSpPr>
          <p:cNvPr id="9" name="Rectángulo 8"/>
          <p:cNvSpPr/>
          <p:nvPr/>
        </p:nvSpPr>
        <p:spPr>
          <a:xfrm>
            <a:off x="990600" y="1556792"/>
            <a:ext cx="892899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La visualization </a:t>
            </a:r>
            <a:r>
              <a:rPr lang="en-US" dirty="0" err="1" smtClean="0"/>
              <a:t>debe</a:t>
            </a:r>
            <a:r>
              <a:rPr lang="en-US" dirty="0" smtClean="0"/>
              <a:t> </a:t>
            </a:r>
            <a:r>
              <a:rPr lang="en-US" dirty="0" err="1"/>
              <a:t>mostrar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Estado del </a:t>
            </a:r>
            <a:r>
              <a:rPr lang="en-US" dirty="0" err="1"/>
              <a:t>sistema</a:t>
            </a:r>
            <a:r>
              <a:rPr lang="en-US" dirty="0"/>
              <a:t> (IDLE, ERR, OPEN, ALR).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Conteo</a:t>
            </a:r>
            <a:r>
              <a:rPr lang="en-US" dirty="0"/>
              <a:t> </a:t>
            </a:r>
            <a:r>
              <a:rPr lang="en-US" dirty="0" err="1"/>
              <a:t>regresivo</a:t>
            </a:r>
            <a:r>
              <a:rPr lang="en-US" dirty="0"/>
              <a:t> de </a:t>
            </a:r>
            <a:r>
              <a:rPr lang="en-US" dirty="0" err="1"/>
              <a:t>desbloqueo</a:t>
            </a:r>
            <a:r>
              <a:rPr lang="en-US" dirty="0"/>
              <a:t> o </a:t>
            </a:r>
            <a:r>
              <a:rPr lang="en-US" dirty="0" err="1"/>
              <a:t>alarma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Dígitos</a:t>
            </a:r>
            <a:r>
              <a:rPr lang="en-US" dirty="0"/>
              <a:t> </a:t>
            </a:r>
            <a:r>
              <a:rPr lang="en-US" dirty="0" err="1"/>
              <a:t>ingresados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enmascarados</a:t>
            </a:r>
            <a:r>
              <a:rPr lang="en-US" dirty="0" smtClean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Información ambiental.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Mensajes.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027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2456</TotalTime>
  <Words>423</Words>
  <Application>Microsoft Office PowerPoint</Application>
  <PresentationFormat>Panorámica</PresentationFormat>
  <Paragraphs>36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Franklin Gothic Book</vt:lpstr>
      <vt:lpstr>Franklin Gothic Demi</vt:lpstr>
      <vt:lpstr>Franklin Gothic Medium</vt:lpstr>
      <vt:lpstr>Tema de Office</vt:lpstr>
      <vt:lpstr>Presentación de PowerPoint</vt:lpstr>
      <vt:lpstr>Presentación de PowerPoint</vt:lpstr>
      <vt:lpstr>ARQUITECTURA COMPUTACIONAL</vt:lpstr>
      <vt:lpstr>Control de acceso y seguridad</vt:lpstr>
      <vt:lpstr>Control de acceso y seguridad</vt:lpstr>
      <vt:lpstr>Control de acceso y seguridad</vt:lpstr>
      <vt:lpstr>Control de acceso y seguridad</vt:lpstr>
      <vt:lpstr>Control de acceso y seguridad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usuario</dc:creator>
  <cp:lastModifiedBy>Fulvio Yesid Vivas Cantero</cp:lastModifiedBy>
  <cp:revision>504</cp:revision>
  <dcterms:created xsi:type="dcterms:W3CDTF">2009-11-04T17:09:49Z</dcterms:created>
  <dcterms:modified xsi:type="dcterms:W3CDTF">2026-04-22T18:51:03Z</dcterms:modified>
</cp:coreProperties>
</file>